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9" r:id="rId15"/>
    <p:sldId id="298" r:id="rId1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0C2340"/>
                </a:solidFill>
                <a:latin typeface="Arial"/>
              </a:rPr>
              <a:t>PR-AUC, unseen years (higher =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dPt>
            <c:idx val="0"/>
            <c:spPr>
              <a:solidFill>
                <a:srgbClr val="C9D3E0"/>
              </a:solidFill>
            </c:spPr>
          </c:dPt>
          <c:dPt>
            <c:idx val="1"/>
            <c:spPr>
              <a:solidFill>
                <a:srgbClr val="8FA8C8"/>
              </a:solidFill>
            </c:spPr>
          </c:dPt>
          <c:dPt>
            <c:idx val="2"/>
            <c:spPr>
              <a:solidFill>
                <a:srgbClr val="1A4E9B"/>
              </a:solidFill>
            </c:spPr>
          </c:dPt>
          <c:cat>
            <c:strRef>
              <c:f>Sheet1!$A$2:$A$4</c:f>
              <c:strCache>
                <c:ptCount val="3"/>
                <c:pt idx="0">
                  <c:v>Climatology</c:v>
                </c:pt>
                <c:pt idx="1">
                  <c:v>Forecast amount alone</c:v>
                </c:pt>
                <c:pt idx="2">
                  <c:v>Vishwas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0.272</c:v>
                </c:pt>
                <c:pt idx="1">
                  <c:v>0.452</c:v>
                </c:pt>
                <c:pt idx="2">
                  <c:v>0.541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>
                  <a:solidFill>
                    <a:srgbClr val="0C23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900">
                <a:solidFill>
                  <a:srgbClr val="1D27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19.png"/><Relationship Id="rId10" Type="http://schemas.openxmlformats.org/officeDocument/2006/relationships/image" Target="../media/image21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109728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8220"/>
                </a:solidFill>
                <a:latin typeface="Nirmala UI"/>
                <a:cs typeface="Nirmala UI"/>
              </a:rPr>
              <a:t>विश्वास</a:t>
            </a:r>
            <a:r>
              <a:rPr sz="3400" b="1" i="0">
                <a:solidFill>
                  <a:srgbClr val="0C2340"/>
                </a:solidFill>
                <a:latin typeface="Arial"/>
              </a:rPr>
              <a:t>  ·  VISHWAS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181051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1A4E9B"/>
                </a:solidFill>
                <a:latin typeface="Arial"/>
              </a:rPr>
              <a:t>AI forecast-bust detection &amp; trust console for NCMRWF’s medium-range forecasts</a:t>
            </a:r>
          </a:p>
        </p:txBody>
      </p:sp>
      <p:sp>
        <p:nvSpPr>
          <p:cNvPr id="40" name="Oval 39"/>
          <p:cNvSpPr/>
          <p:nvPr/>
        </p:nvSpPr>
        <p:spPr>
          <a:xfrm>
            <a:off x="429768" y="2551176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2487168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Problem Statement ID: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26079</a:t>
            </a:r>
          </a:p>
        </p:txBody>
      </p:sp>
      <p:sp>
        <p:nvSpPr>
          <p:cNvPr id="42" name="Oval 41"/>
          <p:cNvSpPr/>
          <p:nvPr/>
        </p:nvSpPr>
        <p:spPr>
          <a:xfrm>
            <a:off x="429768" y="2971800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8368" y="2907792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Problem Statement Title: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AI-Based Forecast Bust Detection for Medium-Range Weather Forecasts</a:t>
            </a:r>
          </a:p>
        </p:txBody>
      </p:sp>
      <p:sp>
        <p:nvSpPr>
          <p:cNvPr id="44" name="Oval 43"/>
          <p:cNvSpPr/>
          <p:nvPr/>
        </p:nvSpPr>
        <p:spPr>
          <a:xfrm>
            <a:off x="429768" y="3593592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8368" y="3529584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Organisation: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Ministry of Earth Sciences (MoES) – NCMRWF</a:t>
            </a:r>
          </a:p>
        </p:txBody>
      </p:sp>
      <p:sp>
        <p:nvSpPr>
          <p:cNvPr id="46" name="Oval 45"/>
          <p:cNvSpPr/>
          <p:nvPr/>
        </p:nvSpPr>
        <p:spPr>
          <a:xfrm>
            <a:off x="429768" y="4014216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8368" y="3950208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Theme: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Disaster Management</a:t>
            </a:r>
          </a:p>
        </p:txBody>
      </p:sp>
      <p:sp>
        <p:nvSpPr>
          <p:cNvPr id="48" name="Oval 47"/>
          <p:cNvSpPr/>
          <p:nvPr/>
        </p:nvSpPr>
        <p:spPr>
          <a:xfrm>
            <a:off x="429768" y="4434840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8368" y="4370832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PS Category: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Software</a:t>
            </a:r>
          </a:p>
        </p:txBody>
      </p:sp>
      <p:sp>
        <p:nvSpPr>
          <p:cNvPr id="50" name="Oval 49"/>
          <p:cNvSpPr/>
          <p:nvPr/>
        </p:nvSpPr>
        <p:spPr>
          <a:xfrm>
            <a:off x="429768" y="4855464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8368" y="4791456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Team ID: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—</a:t>
            </a:r>
          </a:p>
        </p:txBody>
      </p:sp>
      <p:sp>
        <p:nvSpPr>
          <p:cNvPr id="52" name="Oval 51"/>
          <p:cNvSpPr/>
          <p:nvPr/>
        </p:nvSpPr>
        <p:spPr>
          <a:xfrm>
            <a:off x="429768" y="5276088"/>
            <a:ext cx="118872" cy="118872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5212080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C2340"/>
                </a:solidFill>
                <a:latin typeface="Arial"/>
              </a:rPr>
              <a:t>Team Name:  </a:t>
            </a:r>
            <a:r>
              <a:rPr sz="1450" b="1" i="0">
                <a:solidFill>
                  <a:srgbClr val="B33A3A"/>
                </a:solidFill>
                <a:latin typeface="Arial"/>
              </a:rPr>
              <a:t>PowerPuff Squad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6144768"/>
            <a:ext cx="2724912" cy="530352"/>
          </a:xfrm>
          <a:prstGeom prst="roundRect">
            <a:avLst>
              <a:gd name="adj" fmla="val 20689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21208" y="6144768"/>
            <a:ext cx="868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4E9B"/>
                </a:solidFill>
                <a:latin typeface="Arial"/>
              </a:rPr>
              <a:t>330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6144768"/>
            <a:ext cx="17190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D2733"/>
                </a:solidFill>
                <a:latin typeface="Arial"/>
              </a:rPr>
              <a:t>judgements per cycle, ≈1 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73552" y="6144768"/>
            <a:ext cx="2724912" cy="530352"/>
          </a:xfrm>
          <a:prstGeom prst="roundRect">
            <a:avLst>
              <a:gd name="adj" fmla="val 20689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383280" y="6144768"/>
            <a:ext cx="868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4E9B"/>
                </a:solidFill>
                <a:latin typeface="Arial"/>
              </a:rPr>
              <a:t>23 yrs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33672" y="6144768"/>
            <a:ext cx="17190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D2733"/>
                </a:solidFill>
                <a:latin typeface="Arial"/>
              </a:rPr>
              <a:t>of NCMRWF forecast errors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35624" y="6144768"/>
            <a:ext cx="2724912" cy="530352"/>
          </a:xfrm>
          <a:prstGeom prst="roundRect">
            <a:avLst>
              <a:gd name="adj" fmla="val 20689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245352" y="6144768"/>
            <a:ext cx="868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4E9B"/>
                </a:solidFill>
                <a:latin typeface="Arial"/>
              </a:rPr>
              <a:t>0.02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95744" y="6144768"/>
            <a:ext cx="17190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D2733"/>
                </a:solidFill>
                <a:latin typeface="Arial"/>
              </a:rPr>
              <a:t>calibration error on unseen years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97696" y="6144768"/>
            <a:ext cx="2724912" cy="530352"/>
          </a:xfrm>
          <a:prstGeom prst="roundRect">
            <a:avLst>
              <a:gd name="adj" fmla="val 20689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107424" y="6144768"/>
            <a:ext cx="868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4E9B"/>
                </a:solidFill>
                <a:latin typeface="Arial"/>
              </a:rPr>
              <a:t>90%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57816" y="6144768"/>
            <a:ext cx="17190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D2733"/>
                </a:solidFill>
                <a:latin typeface="Arial"/>
              </a:rPr>
              <a:t>of busts flagged at Yellow+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0C2340"/>
                </a:solidFill>
                <a:latin typeface="Nirmala UI" panose="02020603050405020304" pitchFamily="18" charset="0"/>
                <a:ea typeface="ＭＳ Ｐゴシック" pitchFamily="1" charset="-128"/>
                <a:cs typeface="Nirmala UI" panose="02020603050405020304" pitchFamily="18" charset="0"/>
              </a:rPr>
              <a:t>विश्वास</a:t>
            </a:r>
            <a:r>
              <a:rPr lang="en-US" sz="30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·  </a:t>
            </a:r>
            <a:r>
              <a:rPr lang="en-US" sz="30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VISHWAS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Proposed solution: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we rate how wrong NCMRWF’s issued forecast will be, before the outcome is known.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481328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 w="12700">
            <a:solidFill>
              <a:srgbClr val="E8A1A1"/>
            </a:solidFill>
          </a:ln>
        </p:spPr>
        <p:txBody>
          <a:bodyPr rtlCol="0" anchor="ctr"/>
          <a:lstStyle/>
          <a:p/>
        </p:txBody>
      </p:sp>
      <p:sp>
        <p:nvSpPr>
          <p:cNvPr id="15365" name="Rounded Rectangle 15364"/>
          <p:cNvSpPr/>
          <p:nvPr/>
        </p:nvSpPr>
        <p:spPr>
          <a:xfrm>
            <a:off x="365760" y="1481328"/>
            <a:ext cx="3291840" cy="384048"/>
          </a:xfrm>
          <a:prstGeom prst="roundRect">
            <a:avLst>
              <a:gd name="adj" fmla="val 23809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5366" name="Picture 15365" descr="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54480"/>
            <a:ext cx="237744" cy="237744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786384" y="1481328"/>
            <a:ext cx="27980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TODAY’S GAP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02920" y="195681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D2733"/>
                </a:solidFill>
                <a:latin typeface="Arial"/>
              </a:rPr>
              <a:t>NCMRWF’s duty forecaster has the forecast and the ensemble spread, but no calibrated answer to: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02920" y="2523744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</p:spPr>
        <p:txBody>
          <a:bodyPr rtlCol="0" anchor="ctr"/>
          <a:lstStyle/>
          <a:p/>
        </p:txBody>
      </p:sp>
      <p:sp>
        <p:nvSpPr>
          <p:cNvPr id="15370" name="TextBox 15369"/>
          <p:cNvSpPr txBox="1"/>
          <p:nvPr/>
        </p:nvSpPr>
        <p:spPr>
          <a:xfrm>
            <a:off x="594360" y="2523744"/>
            <a:ext cx="28346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C2340"/>
                </a:solidFill>
                <a:latin typeface="Arial"/>
              </a:rPr>
              <a:t>“How likely is </a:t>
            </a:r>
            <a:r>
              <a:rPr sz="1150" b="1" i="1">
                <a:solidFill>
                  <a:srgbClr val="0C2340"/>
                </a:solidFill>
                <a:latin typeface="Arial"/>
              </a:rPr>
              <a:t>this</a:t>
            </a:r>
            <a:r>
              <a:rPr sz="1150" b="1" i="0">
                <a:solidFill>
                  <a:srgbClr val="0C2340"/>
                </a:solidFill>
                <a:latin typeface="Arial"/>
              </a:rPr>
              <a:t> forecast, for </a:t>
            </a:r>
            <a:r>
              <a:rPr sz="1150" b="1" i="1">
                <a:solidFill>
                  <a:srgbClr val="0C2340"/>
                </a:solidFill>
                <a:latin typeface="Arial"/>
              </a:rPr>
              <a:t>this</a:t>
            </a:r>
            <a:r>
              <a:rPr sz="1150" b="1" i="0">
                <a:solidFill>
                  <a:srgbClr val="0C2340"/>
                </a:solidFill>
                <a:latin typeface="Arial"/>
              </a:rPr>
              <a:t> region and lead day, to be badly wrong?”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502920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C2340"/>
                </a:solidFill>
                <a:latin typeface="Arial"/>
              </a:rPr>
              <a:t>Busts cluster in rapidly evolving systems: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502920" y="369417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1A1"/>
            </a:solidFill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Monsoon depressions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2029967" y="369417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1A1"/>
            </a:solidFill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Heavy rainfall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502920" y="4023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1A1"/>
            </a:solidFill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Western disturbances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2029967" y="4023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1A1"/>
            </a:solidFill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Cyclones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02920" y="43525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1A1"/>
            </a:solidFill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Heat waves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2029967" y="4352544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A1A1"/>
            </a:solidFill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Break / active monsoon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502920" y="475488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62828"/>
                </a:solidFill>
                <a:latin typeface="Arial"/>
              </a:rPr>
              <a:t>The cost lands downstream: </a:t>
            </a:r>
            <a:r>
              <a:rPr sz="1050" b="0" i="0">
                <a:solidFill>
                  <a:srgbClr val="1D2733"/>
                </a:solidFill>
                <a:latin typeface="Arial"/>
              </a:rPr>
              <a:t>disaster managers, farmers, reservoir, power and transport planners act on a forecast nobody has rated.</a:t>
            </a:r>
          </a:p>
        </p:txBody>
      </p:sp>
      <p:sp>
        <p:nvSpPr>
          <p:cNvPr id="15379" name="Right Arrow 15378"/>
          <p:cNvSpPr/>
          <p:nvPr/>
        </p:nvSpPr>
        <p:spPr>
          <a:xfrm>
            <a:off x="3712463" y="3383280"/>
            <a:ext cx="201168" cy="365760"/>
          </a:xfrm>
          <a:prstGeom prst="rightArrow">
            <a:avLst/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380" name="Rounded Rectangle 15379"/>
          <p:cNvSpPr/>
          <p:nvPr/>
        </p:nvSpPr>
        <p:spPr>
          <a:xfrm>
            <a:off x="3950208" y="1481328"/>
            <a:ext cx="4206240" cy="420624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5381" name="Rounded Rectangle 15380"/>
          <p:cNvSpPr/>
          <p:nvPr/>
        </p:nvSpPr>
        <p:spPr>
          <a:xfrm>
            <a:off x="3950208" y="1481328"/>
            <a:ext cx="4206240" cy="384048"/>
          </a:xfrm>
          <a:prstGeom prst="roundRect">
            <a:avLst>
              <a:gd name="adj" fmla="val 23809"/>
            </a:avLst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5382" name="Picture 15381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1554480"/>
            <a:ext cx="237744" cy="237744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4370832" y="1481328"/>
            <a:ext cx="37124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WHAT VISHWAS RETURNS, PER CYCLE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4087368" y="1911095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4E9B"/>
                </a:solidFill>
                <a:latin typeface="Arial"/>
              </a:rPr>
              <a:t>330 judgements</a:t>
            </a:r>
            <a:r>
              <a:rPr sz="1050" b="0" i="0">
                <a:solidFill>
                  <a:srgbClr val="1D2733"/>
                </a:solidFill>
                <a:latin typeface="Arial"/>
              </a:rPr>
              <a:t> = 33 subdivisions × Day 1–10, scored in ≈1 s:</a:t>
            </a:r>
          </a:p>
        </p:txBody>
      </p:sp>
      <p:sp>
        <p:nvSpPr>
          <p:cNvPr id="15385" name="Oval 15384"/>
          <p:cNvSpPr/>
          <p:nvPr/>
        </p:nvSpPr>
        <p:spPr>
          <a:xfrm>
            <a:off x="4087368" y="2295144"/>
            <a:ext cx="365760" cy="36576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86" name="Picture 15385" descr="pro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7835" y="2375611"/>
            <a:ext cx="204825" cy="204825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4553712" y="22677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Calibrated bust probability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a stated 40% really busts ≈40% of the time</a:t>
            </a:r>
          </a:p>
        </p:txBody>
      </p:sp>
      <p:sp>
        <p:nvSpPr>
          <p:cNvPr id="15388" name="Oval 15387"/>
          <p:cNvSpPr/>
          <p:nvPr/>
        </p:nvSpPr>
        <p:spPr>
          <a:xfrm>
            <a:off x="4087368" y="2770632"/>
            <a:ext cx="365760" cy="365760"/>
          </a:xfrm>
          <a:prstGeom prst="ellipse">
            <a:avLst/>
          </a:prstGeom>
          <a:solidFill>
            <a:srgbClr val="2C6D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89" name="Picture 15388" descr="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835" y="2851099"/>
            <a:ext cx="204825" cy="204825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4553712" y="2743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Forecast confidence map, Day 1–10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100% − bust probability, animated per lead day</a:t>
            </a:r>
          </a:p>
        </p:txBody>
      </p:sp>
      <p:sp>
        <p:nvSpPr>
          <p:cNvPr id="15391" name="Oval 15390"/>
          <p:cNvSpPr/>
          <p:nvPr/>
        </p:nvSpPr>
        <p:spPr>
          <a:xfrm>
            <a:off x="4087368" y="3246120"/>
            <a:ext cx="365760" cy="365760"/>
          </a:xfrm>
          <a:prstGeom prst="ellipse">
            <a:avLst/>
          </a:prstGeom>
          <a:solidFill>
            <a:srgbClr val="E872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92" name="Picture 15391" descr="lev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835" y="3326587"/>
            <a:ext cx="204825" cy="204825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4553712" y="321868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IMD colour-coded level + action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Green / Yellow / Orange / Red, each with an SOP step</a:t>
            </a:r>
          </a:p>
        </p:txBody>
      </p:sp>
      <p:sp>
        <p:nvSpPr>
          <p:cNvPr id="15394" name="Oval 15393"/>
          <p:cNvSpPr/>
          <p:nvPr/>
        </p:nvSpPr>
        <p:spPr>
          <a:xfrm>
            <a:off x="4087368" y="3721608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95" name="Picture 15394" descr="mi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7835" y="3802075"/>
            <a:ext cx="204825" cy="204825"/>
          </a:xfrm>
          <a:prstGeom prst="rect">
            <a:avLst/>
          </a:prstGeom>
        </p:spPr>
      </p:pic>
      <p:sp>
        <p:nvSpPr>
          <p:cNvPr id="15396" name="TextBox 15395"/>
          <p:cNvSpPr txBox="1"/>
          <p:nvPr/>
        </p:nvSpPr>
        <p:spPr>
          <a:xfrm>
            <a:off x="4553712" y="3694176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Big-miss watch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separate head for rare, costly large-amount errors</a:t>
            </a:r>
          </a:p>
        </p:txBody>
      </p:sp>
      <p:sp>
        <p:nvSpPr>
          <p:cNvPr id="15397" name="Oval 15396"/>
          <p:cNvSpPr/>
          <p:nvPr/>
        </p:nvSpPr>
        <p:spPr>
          <a:xfrm>
            <a:off x="4087368" y="4197096"/>
            <a:ext cx="365760" cy="36576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98" name="Picture 15397" descr="sh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7835" y="4277563"/>
            <a:ext cx="204825" cy="204825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4553712" y="4169664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Top-3 meteorological reasons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exact TreeSHAP, written as sentences with real numbers</a:t>
            </a:r>
          </a:p>
        </p:txBody>
      </p:sp>
      <p:sp>
        <p:nvSpPr>
          <p:cNvPr id="15400" name="Oval 15399"/>
          <p:cNvSpPr/>
          <p:nvPr/>
        </p:nvSpPr>
        <p:spPr>
          <a:xfrm>
            <a:off x="4087368" y="4672584"/>
            <a:ext cx="365760" cy="365760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1" name="Picture 15400" descr="analo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7835" y="4753051"/>
            <a:ext cx="204825" cy="204825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4553712" y="464515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Closest historical case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the most similar past forecast and how it verified</a:t>
            </a:r>
          </a:p>
        </p:txBody>
      </p:sp>
      <p:sp>
        <p:nvSpPr>
          <p:cNvPr id="15403" name="Oval 15402"/>
          <p:cNvSpPr/>
          <p:nvPr/>
        </p:nvSpPr>
        <p:spPr>
          <a:xfrm>
            <a:off x="4087368" y="5148072"/>
            <a:ext cx="365760" cy="36576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4" name="Picture 15403" descr="trus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7835" y="5228539"/>
            <a:ext cx="204825" cy="204825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4553712" y="5120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Arial"/>
              </a:rPr>
              <a:t>Model self-confidence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66476"/>
                </a:solidFill>
                <a:latin typeface="Arial"/>
              </a:rPr>
              <a:t>the AI’s own precedent, on a separate violet scale</a:t>
            </a:r>
          </a:p>
        </p:txBody>
      </p:sp>
      <p:sp>
        <p:nvSpPr>
          <p:cNvPr id="15406" name="Right Arrow 15405"/>
          <p:cNvSpPr/>
          <p:nvPr/>
        </p:nvSpPr>
        <p:spPr>
          <a:xfrm>
            <a:off x="8211312" y="3383280"/>
            <a:ext cx="201168" cy="365760"/>
          </a:xfrm>
          <a:prstGeom prst="rightArrow">
            <a:avLst/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07" name="Rounded Rectangle 15406"/>
          <p:cNvSpPr/>
          <p:nvPr/>
        </p:nvSpPr>
        <p:spPr>
          <a:xfrm>
            <a:off x="8449056" y="1481328"/>
            <a:ext cx="3374136" cy="4206240"/>
          </a:xfrm>
          <a:prstGeom prst="roundRect">
            <a:avLst>
              <a:gd name="adj" fmla="val 3252"/>
            </a:avLst>
          </a:prstGeom>
          <a:solidFill>
            <a:srgbClr val="FEF0E4"/>
          </a:solidFill>
          <a:ln w="12700">
            <a:solidFill>
              <a:srgbClr val="F7C79C"/>
            </a:solidFill>
          </a:ln>
        </p:spPr>
        <p:txBody>
          <a:bodyPr rtlCol="0" anchor="ctr"/>
          <a:lstStyle/>
          <a:p/>
        </p:txBody>
      </p:sp>
      <p:sp>
        <p:nvSpPr>
          <p:cNvPr id="15408" name="Rounded Rectangle 15407"/>
          <p:cNvSpPr/>
          <p:nvPr/>
        </p:nvSpPr>
        <p:spPr>
          <a:xfrm>
            <a:off x="8449056" y="1481328"/>
            <a:ext cx="3374136" cy="384048"/>
          </a:xfrm>
          <a:prstGeom prst="roundRect">
            <a:avLst>
              <a:gd name="adj" fmla="val 23809"/>
            </a:avLst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5409" name="Picture 15408" descr="lightbul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8784" y="1554480"/>
            <a:ext cx="237744" cy="237744"/>
          </a:xfrm>
          <a:prstGeom prst="rect">
            <a:avLst/>
          </a:prstGeom>
        </p:spPr>
      </p:pic>
      <p:sp>
        <p:nvSpPr>
          <p:cNvPr id="15410" name="TextBox 15409"/>
          <p:cNvSpPr txBox="1"/>
          <p:nvPr/>
        </p:nvSpPr>
        <p:spPr>
          <a:xfrm>
            <a:off x="8869680" y="1481328"/>
            <a:ext cx="28803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411" name="Oval 15410"/>
          <p:cNvSpPr/>
          <p:nvPr/>
        </p:nvSpPr>
        <p:spPr>
          <a:xfrm>
            <a:off x="8577072" y="2048256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8942832" y="201168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Rates the forecast, not the weather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2733"/>
                </a:solidFill>
                <a:latin typeface="Arial"/>
              </a:rPr>
              <a:t>a trust layer on what NCMRWF already issues; no NWP output changes</a:t>
            </a:r>
          </a:p>
        </p:txBody>
      </p:sp>
      <p:sp>
        <p:nvSpPr>
          <p:cNvPr id="15413" name="Oval 15412"/>
          <p:cNvSpPr/>
          <p:nvPr/>
        </p:nvSpPr>
        <p:spPr>
          <a:xfrm>
            <a:off x="8577072" y="2633472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942832" y="2596896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Learned from NCMRWF’s own history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2733"/>
                </a:solidFill>
                <a:latin typeface="Arial"/>
              </a:rPr>
              <a:t>23 years of NCMRWF forecasts vs IMD rainfall</a:t>
            </a:r>
          </a:p>
        </p:txBody>
      </p:sp>
      <p:sp>
        <p:nvSpPr>
          <p:cNvPr id="15415" name="Oval 15414"/>
          <p:cNvSpPr/>
          <p:nvPr/>
        </p:nvSpPr>
        <p:spPr>
          <a:xfrm>
            <a:off x="8577072" y="3218688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8942832" y="3182112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Probabilities you can write an SOP 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2733"/>
                </a:solidFill>
                <a:latin typeface="Arial"/>
              </a:rPr>
              <a:t>coastal / inland isotonic calibration, ECE 0.02</a:t>
            </a:r>
          </a:p>
        </p:txBody>
      </p:sp>
      <p:sp>
        <p:nvSpPr>
          <p:cNvPr id="15417" name="Oval 15416"/>
          <p:cNvSpPr/>
          <p:nvPr/>
        </p:nvSpPr>
        <p:spPr>
          <a:xfrm>
            <a:off x="8577072" y="3803904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942832" y="3767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Two-headed risk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2733"/>
                </a:solidFill>
                <a:latin typeface="Arial"/>
              </a:rPr>
              <a:t>big-miss head lifts large-miss detection 41% → 75%</a:t>
            </a:r>
          </a:p>
        </p:txBody>
      </p:sp>
      <p:sp>
        <p:nvSpPr>
          <p:cNvPr id="15419" name="Oval 15418"/>
          <p:cNvSpPr/>
          <p:nvPr/>
        </p:nvSpPr>
        <p:spPr>
          <a:xfrm>
            <a:off x="8577072" y="4389120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8942832" y="435254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Model Trust: an honest 2nd axis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2733"/>
                </a:solidFill>
                <a:latin typeface="Arial"/>
              </a:rPr>
              <a:t>the AI flags its own low-precedent cases</a:t>
            </a:r>
          </a:p>
        </p:txBody>
      </p:sp>
      <p:sp>
        <p:nvSpPr>
          <p:cNvPr id="15421" name="Oval 15420"/>
          <p:cNvSpPr/>
          <p:nvPr/>
        </p:nvSpPr>
        <p:spPr>
          <a:xfrm>
            <a:off x="8577072" y="4974336"/>
            <a:ext cx="274320" cy="27432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8942832" y="493776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Humans close the loop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2733"/>
                </a:solidFill>
                <a:latin typeface="Arial"/>
              </a:rPr>
              <a:t>approved outcomes recalibrate; IMD standards, bilingual</a:t>
            </a:r>
          </a:p>
        </p:txBody>
      </p:sp>
      <p:sp>
        <p:nvSpPr>
          <p:cNvPr id="15423" name="Rounded Rectangle 15422"/>
          <p:cNvSpPr/>
          <p:nvPr/>
        </p:nvSpPr>
        <p:spPr>
          <a:xfrm>
            <a:off x="365760" y="5760720"/>
            <a:ext cx="11457432" cy="493776"/>
          </a:xfrm>
          <a:prstGeom prst="roundRect">
            <a:avLst>
              <a:gd name="adj" fmla="val 22222"/>
            </a:avLst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24" name="TextBox 15423"/>
          <p:cNvSpPr txBox="1"/>
          <p:nvPr/>
        </p:nvSpPr>
        <p:spPr>
          <a:xfrm>
            <a:off x="502920" y="5760720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58220"/>
                </a:solidFill>
                <a:latin typeface="Arial"/>
              </a:rPr>
              <a:t>PROOF, OUT OF SAMPLE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2377440" y="5760720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Chennai floods, cycle of 1 Dec 2015: </a:t>
            </a:r>
            <a:r>
              <a:rPr sz="1050" b="0" i="0">
                <a:solidFill>
                  <a:srgbClr val="CFE0F5"/>
                </a:solidFill>
                <a:latin typeface="Arial"/>
              </a:rPr>
              <a:t>Tamil Nadu Day 4 rated 40%, Orange “Alert”. It busted. Flagged 4 days ahead.</a:t>
            </a:r>
          </a:p>
        </p:txBody>
      </p:sp>
      <p:sp>
        <p:nvSpPr>
          <p:cNvPr id="15426" name="Rounded Rectangle 15425"/>
          <p:cNvSpPr/>
          <p:nvPr/>
        </p:nvSpPr>
        <p:spPr>
          <a:xfrm>
            <a:off x="8229600" y="58521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B300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0C2340"/>
                </a:solidFill>
                <a:latin typeface="Arial"/>
              </a:rPr>
              <a:t>D1 · Watch</a:t>
            </a:r>
          </a:p>
        </p:txBody>
      </p:sp>
      <p:sp>
        <p:nvSpPr>
          <p:cNvPr id="15427" name="Rounded Rectangle 15426"/>
          <p:cNvSpPr/>
          <p:nvPr/>
        </p:nvSpPr>
        <p:spPr>
          <a:xfrm>
            <a:off x="9400032" y="58521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8720C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D4 · 40% Alert</a:t>
            </a:r>
          </a:p>
        </p:txBody>
      </p:sp>
      <p:sp>
        <p:nvSpPr>
          <p:cNvPr id="15428" name="Rounded Rectangle 15427"/>
          <p:cNvSpPr/>
          <p:nvPr/>
        </p:nvSpPr>
        <p:spPr>
          <a:xfrm>
            <a:off x="10661904" y="5852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Busted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r>
              <a:rPr lang="en-US" sz="34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Architecture: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CPU-only, three tiers: Python ML engine → FastAPI REST API → accessible web console</a:t>
            </a:r>
          </a:p>
        </p:txBody>
      </p:sp>
      <p:pic>
        <p:nvPicPr>
          <p:cNvPr id="17412" name="Picture 17411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44752"/>
            <a:ext cx="11457432" cy="4277441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365760" y="5760720"/>
            <a:ext cx="3977639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5875">
            <a:solidFill>
              <a:srgbClr val="167A83"/>
            </a:solidFill>
          </a:ln>
        </p:spPr>
        <p:txBody>
          <a:bodyPr rtlCol="0" anchor="ctr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429768" y="5824728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67A83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AI / ML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34440" y="5760720"/>
            <a:ext cx="306323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D2733"/>
                </a:solidFill>
                <a:latin typeface="Arial"/>
              </a:rPr>
              <a:t>Python 3.12 · LightGBM 4.7 · scikit-learn · SHAP · pandas · xarray · cfgrib · shapely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398264" y="5760720"/>
            <a:ext cx="292608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5875">
            <a:solidFill>
              <a:srgbClr val="1A4E9B"/>
            </a:solidFill>
          </a:ln>
        </p:spPr>
        <p:txBody>
          <a:bodyPr rtlCol="0" anchor="ctr"/>
          <a:lstStyle/>
          <a:p/>
        </p:txBody>
      </p:sp>
      <p:sp>
        <p:nvSpPr>
          <p:cNvPr id="17417" name="Rounded Rectangle 17416"/>
          <p:cNvSpPr/>
          <p:nvPr/>
        </p:nvSpPr>
        <p:spPr>
          <a:xfrm>
            <a:off x="4462272" y="5824728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A4E9B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266944" y="5760720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D2733"/>
                </a:solidFill>
                <a:latin typeface="Arial"/>
              </a:rPr>
              <a:t>FastAPI · Uvicorn · Pydantic · SQLite · PyJWT · bcrypt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79208" y="5760720"/>
            <a:ext cx="237744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5875">
            <a:solidFill>
              <a:srgbClr val="0C2340"/>
            </a:solidFill>
          </a:ln>
        </p:spPr>
        <p:txBody>
          <a:bodyPr rtlCol="0" anchor="ctr"/>
          <a:lstStyle/>
          <a:p/>
        </p:txBody>
      </p:sp>
      <p:sp>
        <p:nvSpPr>
          <p:cNvPr id="17420" name="Rounded Rectangle 17419"/>
          <p:cNvSpPr/>
          <p:nvPr/>
        </p:nvSpPr>
        <p:spPr>
          <a:xfrm>
            <a:off x="7443216" y="5824728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0C2340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47888" y="5760720"/>
            <a:ext cx="1463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D2733"/>
                </a:solidFill>
                <a:latin typeface="Nirmala UI"/>
                <a:cs typeface="Nirmala UI"/>
              </a:rPr>
              <a:t>HTML5 + vanilla JS · SVG map · EN / हिंदी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811512" y="5760720"/>
            <a:ext cx="201168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15875">
            <a:solidFill>
              <a:srgbClr val="F58220"/>
            </a:solidFill>
          </a:ln>
        </p:spPr>
        <p:txBody>
          <a:bodyPr rtlCol="0" anchor="ctr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9875520" y="5824728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Voice AI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0680192" y="5760720"/>
            <a:ext cx="10972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1D2733"/>
                </a:solidFill>
                <a:latin typeface="Arial"/>
              </a:rPr>
              <a:t>Sarvam: Saaras v4 · sarvam-105b · TTS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r>
              <a:rPr lang="en-US" sz="32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HOW VISHWAS SCORES &amp; EXPLAINS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Leak-free by design: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all 35 inputs are known at 00Z on the issue date; nothing leaks from the future.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481328"/>
            <a:ext cx="3657600" cy="47731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3" name="Rounded Rectangle 17412"/>
          <p:cNvSpPr/>
          <p:nvPr/>
        </p:nvSpPr>
        <p:spPr>
          <a:xfrm>
            <a:off x="365760" y="1481328"/>
            <a:ext cx="3657600" cy="384048"/>
          </a:xfrm>
          <a:prstGeom prst="roundRect">
            <a:avLst>
              <a:gd name="adj" fmla="val 23809"/>
            </a:avLst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14" name="Picture 17413" descr="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54480"/>
            <a:ext cx="237744" cy="237744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786384" y="1481328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1 · WHAT COUNTS AS A BUST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93776" y="1956816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585216" y="1993392"/>
            <a:ext cx="32186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4E9B"/>
                </a:solidFill>
                <a:latin typeface="Arial"/>
              </a:rPr>
              <a:t>Magnitude bust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|forecast − observed| ≥ max(25 mm, that subdivision’s 95th-percentile error for the lead day)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93776" y="2688336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85216" y="2724912"/>
            <a:ext cx="32186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4E9B"/>
                </a:solidFill>
                <a:latin typeface="Arial"/>
              </a:rPr>
              <a:t>Category bust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the rain / no-rain call was wrong at IMD’s 2.5 mm rainy-day line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93776" y="343814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C2340"/>
                </a:solidFill>
                <a:latin typeface="Arial"/>
              </a:rPr>
              <a:t>Bust = magnitude OR category. </a:t>
            </a:r>
            <a:r>
              <a:rPr sz="950" b="0" i="0">
                <a:solidFill>
                  <a:srgbClr val="566476"/>
                </a:solidFill>
                <a:latin typeface="Arial"/>
              </a:rPr>
              <a:t>Thresholds fitted on training years only; admins can tune them.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93776" y="3877056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IMD colour-coded warning ladder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93776" y="4206240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Green
0–18%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517904" y="4206240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No action: forecast is reliable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93776" y="4700016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F2B300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0C2340"/>
                </a:solidFill>
                <a:latin typeface="Arial"/>
              </a:rPr>
              <a:t>Yellow
18–38%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517904" y="4700016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Cross-check the short-range nowcast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93776" y="5193792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E8720C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Orange
38–62%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517904" y="5193792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Escalate for manual review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93776" y="5687568"/>
            <a:ext cx="932688" cy="40233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Red
62–100%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517904" y="5687568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Escalate now: treat with strong caution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206240" y="1481328"/>
            <a:ext cx="3931920" cy="4773168"/>
          </a:xfrm>
          <a:prstGeom prst="roundRect">
            <a:avLst>
              <a:gd name="adj" fmla="val 2790"/>
            </a:avLst>
          </a:prstGeom>
          <a:solidFill>
            <a:srgbClr val="E3F2F3"/>
          </a:solidFill>
          <a:ln w="12700">
            <a:solidFill>
              <a:srgbClr val="A9D5D9"/>
            </a:solidFill>
          </a:ln>
        </p:spPr>
        <p:txBody>
          <a:bodyPr rtlCol="0" anchor="ctr"/>
          <a:lstStyle/>
          <a:p/>
        </p:txBody>
      </p:sp>
      <p:sp>
        <p:nvSpPr>
          <p:cNvPr id="17431" name="Rounded Rectangle 17430"/>
          <p:cNvSpPr/>
          <p:nvPr/>
        </p:nvSpPr>
        <p:spPr>
          <a:xfrm>
            <a:off x="4206240" y="1481328"/>
            <a:ext cx="3931920" cy="384048"/>
          </a:xfrm>
          <a:prstGeom prst="roundRect">
            <a:avLst>
              <a:gd name="adj" fmla="val 23809"/>
            </a:avLst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32" name="Picture 1743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554480"/>
            <a:ext cx="237744" cy="23774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4626864" y="1481328"/>
            <a:ext cx="3438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2 · FROM FORECAST TO EXPLAINED RISK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315968" y="1956816"/>
            <a:ext cx="3712463" cy="804672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4389120" y="2194560"/>
            <a:ext cx="329184" cy="329184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540" y="2266980"/>
            <a:ext cx="184343" cy="184343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4791455" y="1984248"/>
            <a:ext cx="31638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35 issue-time features</a:t>
            </a:r>
          </a:p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amount &amp; anomaly · distance to 2.5 mm line · lead-day consistency · pressure, wind, moisture z-scores · out-of-fold bust history · season · terrain &amp; coast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315968" y="2825496"/>
            <a:ext cx="371246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39" name="Oval 17438"/>
          <p:cNvSpPr/>
          <p:nvPr/>
        </p:nvSpPr>
        <p:spPr>
          <a:xfrm>
            <a:off x="4389120" y="2944368"/>
            <a:ext cx="329184" cy="329184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540" y="3016788"/>
            <a:ext cx="184343" cy="184343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4791455" y="2852927"/>
            <a:ext cx="31638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LightGBM classifier</a:t>
            </a:r>
          </a:p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gradient-boosted trees, early stopping on a held-out calibration year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15968" y="3456432"/>
            <a:ext cx="371246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4389120" y="3575303"/>
            <a:ext cx="329184" cy="329184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4" name="Picture 17443" descr="pro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540" y="3647724"/>
            <a:ext cx="184343" cy="184343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4791455" y="3483863"/>
            <a:ext cx="31638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Isotonic calibration</a:t>
            </a:r>
          </a:p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fitted separately for coastal and inland subdivisions, clipped 1–99%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315968" y="4087368"/>
            <a:ext cx="3712463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7" name="Oval 17446"/>
          <p:cNvSpPr/>
          <p:nvPr/>
        </p:nvSpPr>
        <p:spPr>
          <a:xfrm>
            <a:off x="4389120" y="4261104"/>
            <a:ext cx="329184" cy="329184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8" name="Picture 17447" descr="m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540" y="4333524"/>
            <a:ext cx="184343" cy="184343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4791455" y="4114800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Big-miss head</a:t>
            </a:r>
          </a:p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second calibrated model; flag tuned for 15% precision, never alters the main probability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315968" y="4828031"/>
            <a:ext cx="3712463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1" name="Oval 17450"/>
          <p:cNvSpPr/>
          <p:nvPr/>
        </p:nvSpPr>
        <p:spPr>
          <a:xfrm>
            <a:off x="4389120" y="5001768"/>
            <a:ext cx="329184" cy="329184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sh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1540" y="5074188"/>
            <a:ext cx="184343" cy="184343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4791455" y="4855464"/>
            <a:ext cx="316382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0C2340"/>
                </a:solidFill>
                <a:latin typeface="Arial"/>
              </a:rPr>
              <a:t>Explain every flag</a:t>
            </a:r>
          </a:p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TreeSHAP factor sentences · SHAP-weighted k-NN analog · 4-flag Model Trust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315968" y="5586983"/>
            <a:ext cx="3712463" cy="557784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9050">
            <a:solidFill>
              <a:srgbClr val="E8720C"/>
            </a:solidFill>
          </a:ln>
        </p:spPr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4407407" y="5586983"/>
            <a:ext cx="35295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E8720C"/>
                </a:solidFill>
                <a:latin typeface="Arial"/>
              </a:rPr>
              <a:t>Tamil Nadu, Day 4 → 40% Orange. </a:t>
            </a:r>
            <a:r>
              <a:rPr sz="950" b="0" i="1">
                <a:solidFill>
                  <a:srgbClr val="1D2733"/>
                </a:solidFill>
                <a:latin typeface="Arial"/>
              </a:rPr>
              <a:t>Top reason (+53%): “Forecast of 2.3 mm sits right at the 2.5 mm rain/no-rain line, so a small error flips the call.”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321040" y="1481328"/>
            <a:ext cx="3502152" cy="4773168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F7C79C"/>
            </a:solidFill>
          </a:ln>
        </p:spPr>
        <p:txBody>
          <a:bodyPr rtlCol="0" anchor="ctr"/>
          <a:lstStyle/>
          <a:p/>
        </p:txBody>
      </p:sp>
      <p:sp>
        <p:nvSpPr>
          <p:cNvPr id="17457" name="Rounded Rectangle 17456"/>
          <p:cNvSpPr/>
          <p:nvPr/>
        </p:nvSpPr>
        <p:spPr>
          <a:xfrm>
            <a:off x="8321040" y="1481328"/>
            <a:ext cx="3502152" cy="384048"/>
          </a:xfrm>
          <a:prstGeom prst="roundRect">
            <a:avLst>
              <a:gd name="adj" fmla="val 23809"/>
            </a:avLst>
          </a:prstGeom>
          <a:solidFill>
            <a:srgbClr val="F5822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58" name="Picture 17457" descr="m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7" y="1554480"/>
            <a:ext cx="237744" cy="237744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8741664" y="1481328"/>
            <a:ext cx="300837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3 · ASK VISHWAS, BY VOICE</a:t>
            </a:r>
          </a:p>
        </p:txBody>
      </p:sp>
      <p:pic>
        <p:nvPicPr>
          <p:cNvPr id="17460" name="Picture 17459" descr="sarv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19" y="1956816"/>
            <a:ext cx="3136392" cy="3714148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8485632" y="5779008"/>
            <a:ext cx="3172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F58220"/>
                </a:solidFill>
                <a:latin typeface="Arial"/>
              </a:rPr>
              <a:t>Powered by Sarvam AI. </a:t>
            </a:r>
            <a:r>
              <a:rPr sz="880" b="0" i="0">
                <a:solidFill>
                  <a:srgbClr val="566476"/>
                </a:solidFill>
                <a:latin typeface="Arial"/>
              </a:rPr>
              <a:t>The API key stays on the server; a failed call degrades to a clean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r>
              <a:rPr lang="en-US" sz="32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PROTOTYPE &amp; PROVEN 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Built, not mocked: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real NCMRWF data, tested once on unseen 2013–2015 (11,880 forecasts, 1,976 busts).</a:t>
            </a:r>
          </a:p>
        </p:txBody>
      </p:sp>
      <p:pic>
        <p:nvPicPr>
          <p:cNvPr id="17412" name="Picture 17411" descr="05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5440680" cy="3979453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17413" name="TextBox 17412"/>
          <p:cNvSpPr txBox="1"/>
          <p:nvPr/>
        </p:nvSpPr>
        <p:spPr>
          <a:xfrm>
            <a:off x="365760" y="5515644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C2340"/>
                </a:solidFill>
                <a:latin typeface="Arial"/>
              </a:rPr>
              <a:t>Live dashboard, 1 Dec 2015 cycle: </a:t>
            </a:r>
            <a:r>
              <a:rPr sz="950" b="0" i="0">
                <a:solidFill>
                  <a:srgbClr val="566476"/>
                </a:solidFill>
                <a:latin typeface="Arial"/>
              </a:rPr>
              <a:t>bust-risk map, the selected subdivision’s reasons and closest case, and the highest-risk list.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035040" y="1481328"/>
            <a:ext cx="342900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graphicFrame>
        <p:nvGraphicFramePr>
          <p:cNvPr id="17415" name="Chart 17414"/>
          <p:cNvGraphicFramePr>
            <a:graphicFrameLocks noGrp="1"/>
          </p:cNvGraphicFramePr>
          <p:nvPr/>
        </p:nvGraphicFramePr>
        <p:xfrm>
          <a:off x="6080759" y="1527048"/>
          <a:ext cx="333756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6" name="Rounded Rectangle 17415"/>
          <p:cNvSpPr/>
          <p:nvPr/>
        </p:nvSpPr>
        <p:spPr>
          <a:xfrm>
            <a:off x="9573767" y="1481328"/>
            <a:ext cx="2249424" cy="1005840"/>
          </a:xfrm>
          <a:prstGeom prst="roundRect">
            <a:avLst>
              <a:gd name="adj" fmla="val 9090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9665207" y="1554480"/>
            <a:ext cx="2066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4E9B"/>
                </a:solidFill>
                <a:latin typeface="Arial"/>
              </a:rPr>
              <a:t>3.3×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665207" y="2066544"/>
            <a:ext cx="2066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the no-skill PR-AUC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573767" y="2578608"/>
            <a:ext cx="2249424" cy="1005840"/>
          </a:xfrm>
          <a:prstGeom prst="roundRect">
            <a:avLst>
              <a:gd name="adj" fmla="val 9090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665207" y="2651760"/>
            <a:ext cx="2066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E7A3C"/>
                </a:solidFill>
                <a:latin typeface="Arial"/>
              </a:rPr>
              <a:t>0.020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665207" y="3163824"/>
            <a:ext cx="2066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calibration error (ECE)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035040" y="3675887"/>
            <a:ext cx="13784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6080759" y="3703320"/>
            <a:ext cx="12870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8720C"/>
                </a:solidFill>
                <a:latin typeface="Arial"/>
              </a:rPr>
              <a:t>90.4%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108192" y="4087368"/>
            <a:ext cx="123215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of busts flagged at Yellow or above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504938" y="3675887"/>
            <a:ext cx="13784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7550658" y="3703320"/>
            <a:ext cx="12870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C62828"/>
                </a:solidFill>
                <a:latin typeface="Arial"/>
              </a:rPr>
              <a:t>74.8%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578090" y="4087368"/>
            <a:ext cx="123215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of large misses caught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974836" y="3675887"/>
            <a:ext cx="13784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9020556" y="3703320"/>
            <a:ext cx="12870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4E9B"/>
                </a:solidFill>
                <a:latin typeface="Arial"/>
              </a:rPr>
              <a:t>+0.23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047988" y="4087368"/>
            <a:ext cx="123215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Brier skill over climatology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0444734" y="3675887"/>
            <a:ext cx="137845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10490454" y="3703320"/>
            <a:ext cx="12870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67A83"/>
                </a:solidFill>
                <a:latin typeface="Arial"/>
              </a:rPr>
              <a:t>0.864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0517886" y="4087368"/>
            <a:ext cx="123215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D2733"/>
                </a:solidFill>
                <a:latin typeface="Arial"/>
              </a:rPr>
              <a:t>ROC-AUC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035040" y="4636008"/>
            <a:ext cx="5788152" cy="1069848"/>
          </a:xfrm>
          <a:prstGeom prst="roundRect">
            <a:avLst>
              <a:gd name="adj" fmla="val 10256"/>
            </a:avLst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6199631" y="470916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8220"/>
                </a:solidFill>
                <a:latin typeface="Arial"/>
              </a:rPr>
              <a:t>Chennai floods · cycle of 1 Dec 2015 · out of sample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99631" y="5020056"/>
            <a:ext cx="129616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FE0F5"/>
                </a:solidFill>
                <a:latin typeface="Arial"/>
              </a:rPr>
              <a:t>TN Day 1 · flood day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199631" y="5276088"/>
            <a:ext cx="1296162" cy="329184"/>
          </a:xfrm>
          <a:prstGeom prst="roundRect">
            <a:avLst>
              <a:gd name="adj" fmla="val 50000"/>
            </a:avLst>
          </a:prstGeom>
          <a:solidFill>
            <a:srgbClr val="F2B300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0C2340"/>
                </a:solidFill>
                <a:latin typeface="Arial"/>
              </a:rPr>
              <a:t>Yellow · Watch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587233" y="5020056"/>
            <a:ext cx="129616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FE0F5"/>
                </a:solidFill>
                <a:latin typeface="Arial"/>
              </a:rPr>
              <a:t>TN Day 4 → busted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587233" y="5276088"/>
            <a:ext cx="1296162" cy="329184"/>
          </a:xfrm>
          <a:prstGeom prst="roundRect">
            <a:avLst>
              <a:gd name="adj" fmla="val 50000"/>
            </a:avLst>
          </a:prstGeom>
          <a:solidFill>
            <a:srgbClr val="E8720C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Orange · 40%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974836" y="5020056"/>
            <a:ext cx="129616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FE0F5"/>
                </a:solidFill>
                <a:latin typeface="Arial"/>
              </a:rPr>
              <a:t>TN Day 5 → busted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8974836" y="5276088"/>
            <a:ext cx="1296162" cy="329184"/>
          </a:xfrm>
          <a:prstGeom prst="roundRect">
            <a:avLst>
              <a:gd name="adj" fmla="val 50000"/>
            </a:avLst>
          </a:prstGeom>
          <a:solidFill>
            <a:srgbClr val="F2B300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0C2340"/>
                </a:solidFill>
                <a:latin typeface="Arial"/>
              </a:rPr>
              <a:t>Yellow · Watch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0362438" y="5020056"/>
            <a:ext cx="129616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FE0F5"/>
                </a:solidFill>
                <a:latin typeface="Arial"/>
              </a:rPr>
              <a:t>Coastal AP → held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10362438" y="5276088"/>
            <a:ext cx="1296162" cy="329184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Green · no warning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035040" y="5852160"/>
            <a:ext cx="1378458" cy="384048"/>
          </a:xfrm>
          <a:prstGeom prst="roundRect">
            <a:avLst>
              <a:gd name="adj" fmla="val 23809"/>
            </a:avLst>
          </a:prstGeom>
          <a:solidFill>
            <a:srgbClr val="E6F2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6035040" y="5852160"/>
            <a:ext cx="137845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Arial"/>
              </a:rPr>
              <a:t>88 </a:t>
            </a:r>
            <a:r>
              <a:rPr sz="900" b="0" i="0">
                <a:solidFill>
                  <a:srgbClr val="1D2733"/>
                </a:solidFill>
                <a:latin typeface="Arial"/>
              </a:rPr>
              <a:t>automated tests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7504938" y="5852160"/>
            <a:ext cx="1378458" cy="384048"/>
          </a:xfrm>
          <a:prstGeom prst="roundRect">
            <a:avLst>
              <a:gd name="adj" fmla="val 23809"/>
            </a:avLst>
          </a:prstGeom>
          <a:solidFill>
            <a:srgbClr val="E6F2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7504938" y="5852160"/>
            <a:ext cx="137845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Arial"/>
              </a:rPr>
              <a:t>30 s </a:t>
            </a:r>
            <a:r>
              <a:rPr sz="900" b="0" i="0">
                <a:solidFill>
                  <a:srgbClr val="1D2733"/>
                </a:solidFill>
                <a:latin typeface="Arial"/>
              </a:rPr>
              <a:t>to train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974836" y="5852160"/>
            <a:ext cx="1378458" cy="384048"/>
          </a:xfrm>
          <a:prstGeom prst="roundRect">
            <a:avLst>
              <a:gd name="adj" fmla="val 23809"/>
            </a:avLst>
          </a:prstGeom>
          <a:solidFill>
            <a:srgbClr val="E6F2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8974836" y="5852160"/>
            <a:ext cx="137845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Arial"/>
              </a:rPr>
              <a:t>≈1 s </a:t>
            </a:r>
            <a:r>
              <a:rPr sz="900" b="0" i="0">
                <a:solidFill>
                  <a:srgbClr val="1D2733"/>
                </a:solidFill>
                <a:latin typeface="Arial"/>
              </a:rPr>
              <a:t>per cycle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10444734" y="5852160"/>
            <a:ext cx="1378458" cy="384048"/>
          </a:xfrm>
          <a:prstGeom prst="roundRect">
            <a:avLst>
              <a:gd name="adj" fmla="val 23809"/>
            </a:avLst>
          </a:prstGeom>
          <a:solidFill>
            <a:srgbClr val="E6F2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10444734" y="5852160"/>
            <a:ext cx="137845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E7A3C"/>
                </a:solidFill>
                <a:latin typeface="Arial"/>
              </a:rPr>
              <a:t>0 </a:t>
            </a:r>
            <a:r>
              <a:rPr sz="900" b="0" i="0">
                <a:solidFill>
                  <a:srgbClr val="1D2733"/>
                </a:solidFill>
                <a:latin typeface="Arial"/>
              </a:rPr>
              <a:t>GPUs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r>
              <a:rPr lang="en-US" sz="32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Built, tested, cheap to run: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uses what NCMRWF and IMD already produce, on one modest server.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481328"/>
            <a:ext cx="347472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3" name="Oval 17412"/>
          <p:cNvSpPr/>
          <p:nvPr/>
        </p:nvSpPr>
        <p:spPr>
          <a:xfrm>
            <a:off x="493776" y="1815084"/>
            <a:ext cx="457200" cy="45720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15668"/>
            <a:ext cx="256032" cy="25603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078992" y="1536192"/>
            <a:ext cx="2651760" cy="10149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4E9B"/>
                </a:solidFill>
                <a:latin typeface="Arial"/>
              </a:rPr>
              <a:t>Technical feasibility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Built end to end: real data → calibrated model → REST API → role-based console. 88 tests pass; CPU only.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2697480"/>
            <a:ext cx="347472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493776" y="3031236"/>
            <a:ext cx="457200" cy="457200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31820"/>
            <a:ext cx="256032" cy="256032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1078992" y="2752344"/>
            <a:ext cx="2651760" cy="10149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C2340"/>
                </a:solidFill>
                <a:latin typeface="Arial"/>
              </a:rPr>
              <a:t>Operational feasibility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Speaks the forecaster’s language: IMD subdivisions, colour code and rainfall thresholds; 4 roles mirror the desk.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3913632"/>
            <a:ext cx="347472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493776" y="4247388"/>
            <a:ext cx="457200" cy="45720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2" name="Picture 17421" descr="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47972"/>
            <a:ext cx="256032" cy="256032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1078992" y="3968496"/>
            <a:ext cx="2651760" cy="10149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7A83"/>
                </a:solidFill>
                <a:latin typeface="Arial"/>
              </a:rPr>
              <a:t>Data feasibility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Readers for NCMRWF S2S (1993–2015) and NEPS (2017–2025); lead-day alignment verified (r = 0.77 / 0.91).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65760" y="5129784"/>
            <a:ext cx="347472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5" name="Oval 17424"/>
          <p:cNvSpPr/>
          <p:nvPr/>
        </p:nvSpPr>
        <p:spPr>
          <a:xfrm>
            <a:off x="493776" y="5463540"/>
            <a:ext cx="457200" cy="457200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6" name="Picture 17425" descr="rup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564124"/>
            <a:ext cx="256032" cy="25603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1078992" y="5184648"/>
            <a:ext cx="2651760" cy="10149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7A3C"/>
                </a:solidFill>
                <a:latin typeface="Arial"/>
              </a:rPr>
              <a:t>Financial feasibility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100% open-source stack and open data; no per-seat licence; two processes on a single server.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977639" y="1481328"/>
            <a:ext cx="4343400" cy="384048"/>
          </a:xfrm>
          <a:prstGeom prst="roundRect">
            <a:avLst>
              <a:gd name="adj" fmla="val 23809"/>
            </a:avLst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29" name="Picture 17428" descr="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7368" y="1554480"/>
            <a:ext cx="237744" cy="237744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4398264" y="1481328"/>
            <a:ext cx="3849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RISKS → HOW VISHWAS HANDLES THEM</a:t>
            </a:r>
          </a:p>
        </p:txBody>
      </p:sp>
      <p:graphicFrame>
        <p:nvGraphicFramePr>
          <p:cNvPr id="17431" name="Table 17430"/>
          <p:cNvGraphicFramePr>
            <a:graphicFrameLocks noGrp="1"/>
          </p:cNvGraphicFramePr>
          <p:nvPr/>
        </p:nvGraphicFramePr>
        <p:xfrm>
          <a:off x="3977639" y="1920240"/>
          <a:ext cx="4343400" cy="4334253"/>
        </p:xfrm>
        <a:graphic>
          <a:graphicData uri="http://schemas.openxmlformats.org/drawingml/2006/table">
            <a:tbl>
              <a:tblPr bandRow="0" firstRow="0">
                <a:tableStyleId>{5C22544A-7EE6-4342-B048-85BDC9FD1C3A}</a:tableStyleId>
              </a:tblPr>
              <a:tblGrid>
                <a:gridCol w="1417320"/>
                <a:gridCol w="2926080"/>
              </a:tblGrid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Busts are rare (~17%)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PR-AUC as the main metric, calibrated probabilities, dedicated big-miss head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Information leakage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issue-time features only, out-of-fold history, look-ahead-free analogs, automated leakage tests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</a:tr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Over-fitting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year-based splits, separate validation years, test used once, bootstrap CIs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Coastal, hill &amp; plains regimes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coastal / inland calibration, terrain &amp; coast features, per-subdivision thresholds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</a:tr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Forecaster trust in AI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plain-language reasons, historical analogs, Model Trust, calibration proven on unseen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Archive access &amp; timing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dedicated S2S / TIGGE readers; lead days aligned to IMD’s 03Z day</a:t>
                      </a:r>
                    </a:p>
                  </a:txBody>
                  <a:tcPr marL="73152" marR="73152" marT="27432" marB="27432" anchor="ctr">
                    <a:solidFill>
                      <a:srgbClr val="F6F9FC"/>
                    </a:solidFill>
                  </a:tcPr>
                </a:tc>
              </a:tr>
              <a:tr h="619179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C2340"/>
                          </a:solidFill>
                          <a:latin typeface="Arial"/>
                        </a:rPr>
                        <a:t>Keeping the model current</a:t>
                      </a:r>
                    </a:p>
                  </a:txBody>
                  <a:tcPr marL="73152" marR="73152" marT="27432" marB="27432" anchor="ctr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D2733"/>
                          </a:solidFill>
                          <a:latin typeface="Arial"/>
                        </a:rPr>
                        <a:t>approved-outcome recalibration; admin retraining with zero-downtime swap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32" name="Rounded Rectangle 17431"/>
          <p:cNvSpPr/>
          <p:nvPr/>
        </p:nvSpPr>
        <p:spPr>
          <a:xfrm>
            <a:off x="8458200" y="1481328"/>
            <a:ext cx="3364992" cy="265176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>
            <a:solidFill>
              <a:srgbClr val="A8D0B5"/>
            </a:solidFill>
          </a:ln>
        </p:spPr>
        <p:txBody>
          <a:bodyPr rtlCol="0" anchor="ctr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8458200" y="1481328"/>
            <a:ext cx="3364992" cy="384048"/>
          </a:xfrm>
          <a:prstGeom prst="roundRect">
            <a:avLst>
              <a:gd name="adj" fmla="val 23809"/>
            </a:avLst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34" name="Picture 17433" descr="lo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7928" y="1554480"/>
            <a:ext cx="237744" cy="23774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8878824" y="1481328"/>
            <a:ext cx="28712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SUSTAINABLE: LEARNS WITH USE</a:t>
            </a:r>
          </a:p>
        </p:txBody>
      </p:sp>
      <p:pic>
        <p:nvPicPr>
          <p:cNvPr id="17436" name="Picture 17435" descr="loop_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2668" y="1938528"/>
            <a:ext cx="1956055" cy="2121408"/>
          </a:xfrm>
          <a:prstGeom prst="rect">
            <a:avLst/>
          </a:prstGeom>
        </p:spPr>
      </p:pic>
      <p:sp>
        <p:nvSpPr>
          <p:cNvPr id="17437" name="Rounded Rectangle 17436"/>
          <p:cNvSpPr/>
          <p:nvPr/>
        </p:nvSpPr>
        <p:spPr>
          <a:xfrm>
            <a:off x="8458200" y="4224528"/>
            <a:ext cx="3364992" cy="2029967"/>
          </a:xfrm>
          <a:prstGeom prst="roundRect">
            <a:avLst>
              <a:gd name="adj" fmla="val 5405"/>
            </a:avLst>
          </a:prstGeom>
          <a:solidFill>
            <a:srgbClr val="EAF2FA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8458200" y="4224528"/>
            <a:ext cx="3364992" cy="384048"/>
          </a:xfrm>
          <a:prstGeom prst="roundRect">
            <a:avLst>
              <a:gd name="adj" fmla="val 23809"/>
            </a:avLst>
          </a:prstGeom>
          <a:solidFill>
            <a:srgbClr val="1A4E9B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39" name="Picture 17438" descr="rock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7928" y="4297680"/>
            <a:ext cx="237744" cy="237744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8878824" y="4224528"/>
            <a:ext cx="28712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ROADMAP TO SCALE</a:t>
            </a:r>
          </a:p>
        </p:txBody>
      </p:sp>
      <p:sp>
        <p:nvSpPr>
          <p:cNvPr id="17441" name="Oval 17440"/>
          <p:cNvSpPr/>
          <p:nvPr/>
        </p:nvSpPr>
        <p:spPr>
          <a:xfrm>
            <a:off x="8567928" y="4713732"/>
            <a:ext cx="237744" cy="237744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897112" y="4681728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Live NCUM-G / NEPS feed, scored as issued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8567928" y="5020056"/>
            <a:ext cx="237744" cy="237744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897112" y="4988052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District-level trust maps</a:t>
            </a:r>
          </a:p>
        </p:txBody>
      </p:sp>
      <p:sp>
        <p:nvSpPr>
          <p:cNvPr id="17445" name="Oval 17444"/>
          <p:cNvSpPr/>
          <p:nvPr/>
        </p:nvSpPr>
        <p:spPr>
          <a:xfrm>
            <a:off x="8567928" y="5326380"/>
            <a:ext cx="237744" cy="237744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897112" y="5294376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Heat waves &amp; cyclones: temperature, wind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8567928" y="5632704"/>
            <a:ext cx="237744" cy="237744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897112" y="5600700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MoES deploy: containers, PostgreSQL, SSO</a:t>
            </a:r>
          </a:p>
        </p:txBody>
      </p:sp>
      <p:sp>
        <p:nvSpPr>
          <p:cNvPr id="17449" name="Oval 17448"/>
          <p:cNvSpPr/>
          <p:nvPr/>
        </p:nvSpPr>
        <p:spPr>
          <a:xfrm>
            <a:off x="8567928" y="5939028"/>
            <a:ext cx="237744" cy="237744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897112" y="5907024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2733"/>
                </a:solidFill>
                <a:latin typeface="Arial"/>
              </a:rPr>
              <a:t>Confidence lines in IMD &amp; Agromet bulletins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r>
              <a:rPr lang="en-US" sz="34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Impact: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a calibrated, explained confidence at issue time puts attention where the forecast is likely to fail.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481328"/>
            <a:ext cx="2795777" cy="82296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57200" y="148132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4E9B"/>
                </a:solidFill>
                <a:latin typeface="Arial"/>
              </a:rPr>
              <a:t>330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664207" y="1481328"/>
            <a:ext cx="140588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D2733"/>
                </a:solidFill>
                <a:latin typeface="Arial"/>
              </a:rPr>
              <a:t>subdivision × lead-day ratings per forecast cycle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52977" y="1481328"/>
            <a:ext cx="2795777" cy="82296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344418" y="148132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E8720C"/>
                </a:solidFill>
                <a:latin typeface="Arial"/>
              </a:rPr>
              <a:t>90%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51425" y="1481328"/>
            <a:ext cx="140588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D2733"/>
                </a:solidFill>
                <a:latin typeface="Arial"/>
              </a:rPr>
              <a:t>of busts land at Yellow or above, before the outcome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40196" y="1481328"/>
            <a:ext cx="2795777" cy="82296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231636" y="148132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62828"/>
                </a:solidFill>
                <a:latin typeface="Arial"/>
              </a:rPr>
              <a:t>75%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438644" y="1481328"/>
            <a:ext cx="140588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D2733"/>
                </a:solidFill>
                <a:latin typeface="Arial"/>
              </a:rPr>
              <a:t>of large, costly misses caught by the big-miss watch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027414" y="1481328"/>
            <a:ext cx="2795777" cy="82296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9118854" y="1481328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E7A3C"/>
                </a:solidFill>
                <a:latin typeface="Arial"/>
              </a:rPr>
              <a:t>4 days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325862" y="1481328"/>
            <a:ext cx="140588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1D2733"/>
                </a:solidFill>
                <a:latin typeface="Arial"/>
              </a:rPr>
              <a:t>of warning on the Chennai 2015 flood-day bust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65760" y="24140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0C2340"/>
                </a:solidFill>
                <a:latin typeface="Arial"/>
              </a:rPr>
              <a:t>Who benefits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65760" y="2724912"/>
            <a:ext cx="2218334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1191463" y="2852928"/>
            <a:ext cx="566928" cy="566928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7" name="Picture 17426" descr="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87" y="2977652"/>
            <a:ext cx="317479" cy="317479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57200" y="3474720"/>
            <a:ext cx="203545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0C2340"/>
                </a:solidFill>
                <a:latin typeface="Arial"/>
              </a:rPr>
              <a:t>NCMRWF &amp; IMD forecasters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75488" y="3767328"/>
            <a:ext cx="199887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A map read in seconds shows which subdivisions and days need a second look, each with reasons and an action.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75488" y="4443984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0C2340"/>
                </a:solidFill>
                <a:latin typeface="Arial"/>
              </a:rPr>
              <a:t>Uses: map, reasons, SOP step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675534" y="2724912"/>
            <a:ext cx="2218334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3501237" y="2852928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flo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961" y="2977652"/>
            <a:ext cx="317479" cy="317479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2766974" y="3474720"/>
            <a:ext cx="203545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0C2340"/>
                </a:solidFill>
                <a:latin typeface="Arial"/>
              </a:rPr>
              <a:t>Disaster management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785262" y="3767328"/>
            <a:ext cx="199887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Warnings carry a confidence level, so preparedness scales with how reliable the forecast is.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2785262" y="4443984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C62828"/>
                </a:solidFill>
                <a:latin typeface="Arial"/>
              </a:rPr>
              <a:t>Uses: confidence + big-miss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985308" y="2724912"/>
            <a:ext cx="2218334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38" name="Oval 17437"/>
          <p:cNvSpPr/>
          <p:nvPr/>
        </p:nvSpPr>
        <p:spPr>
          <a:xfrm>
            <a:off x="5811012" y="2852928"/>
            <a:ext cx="566928" cy="566928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9" name="Picture 17438" descr="tra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736" y="2977652"/>
            <a:ext cx="317479" cy="317479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5076748" y="3474720"/>
            <a:ext cx="203545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0C2340"/>
                </a:solidFill>
                <a:latin typeface="Arial"/>
              </a:rPr>
              <a:t>Farmers &amp; Agromet units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095036" y="3767328"/>
            <a:ext cx="199887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Sowing, irrigation, spraying and harvest advisories can say how far to rely on the forecast.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095036" y="4443984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1E7A3C"/>
                </a:solidFill>
                <a:latin typeface="Arial"/>
              </a:rPr>
              <a:t>Uses: confidence per lead day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295083" y="2724912"/>
            <a:ext cx="2218334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44" name="Oval 17443"/>
          <p:cNvSpPr/>
          <p:nvPr/>
        </p:nvSpPr>
        <p:spPr>
          <a:xfrm>
            <a:off x="8120786" y="2852928"/>
            <a:ext cx="566928" cy="566928"/>
          </a:xfrm>
          <a:prstGeom prst="ellipse">
            <a:avLst/>
          </a:prstGeom>
          <a:solidFill>
            <a:srgbClr val="E872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510" y="2977652"/>
            <a:ext cx="317479" cy="317479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7386523" y="3474720"/>
            <a:ext cx="203545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0C2340"/>
                </a:solidFill>
                <a:latin typeface="Arial"/>
              </a:rPr>
              <a:t>Reservoir, power &amp; transport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404811" y="3767328"/>
            <a:ext cx="199887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Act on a trustworthy forecast; hedge on an uncertain one.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404811" y="4443984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E8720C"/>
                </a:solidFill>
                <a:latin typeface="Arial"/>
              </a:rPr>
              <a:t>Uses: Day 1–10 confidence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9604857" y="2724912"/>
            <a:ext cx="2218334" cy="2121408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50" name="Oval 17449"/>
          <p:cNvSpPr/>
          <p:nvPr/>
        </p:nvSpPr>
        <p:spPr>
          <a:xfrm>
            <a:off x="10430560" y="2852928"/>
            <a:ext cx="566928" cy="566928"/>
          </a:xfrm>
          <a:prstGeom prst="ellipse">
            <a:avLst/>
          </a:prstGeom>
          <a:solidFill>
            <a:srgbClr val="5B3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1" name="Picture 17450" descr="fl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5284" y="2977652"/>
            <a:ext cx="317479" cy="317479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9696297" y="3474720"/>
            <a:ext cx="203545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0C2340"/>
                </a:solidFill>
                <a:latin typeface="Arial"/>
              </a:rPr>
              <a:t>NWP developers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9714585" y="3767328"/>
            <a:ext cx="199887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Per-subdivision SHAP factors show where and why the model errs, by season and lead day.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714585" y="4443984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>
            <a:noFill/>
          </a:ln>
        </p:spPr>
        <p:txBody>
          <a:bodyPr rtlCol="0" anchor="ctr" lIns="36576" rIns="36576" tIns="0" bIns="0" wrap="square"/>
          <a:lstStyle/>
          <a:p>
            <a:pPr algn="ctr"/>
            <a:r>
              <a:rPr sz="850" b="1">
                <a:solidFill>
                  <a:srgbClr val="5B3FA0"/>
                </a:solidFill>
                <a:latin typeface="Arial"/>
              </a:rPr>
              <a:t>Uses: SHAP factor record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365760" y="4974336"/>
            <a:ext cx="2795777" cy="128016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475488" y="5102351"/>
            <a:ext cx="402336" cy="402336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us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001" y="5190865"/>
            <a:ext cx="225308" cy="225308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950976" y="5102351"/>
            <a:ext cx="211912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4E9B"/>
                </a:solidFill>
                <a:latin typeface="Arial"/>
              </a:rPr>
              <a:t>Social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93776" y="5577840"/>
            <a:ext cx="255803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Better-qualified warnings protect lives and livelihoods; honest confidence builds public trust in official forecasts.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3252977" y="4974336"/>
            <a:ext cx="2795777" cy="128016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61" name="Oval 17460"/>
          <p:cNvSpPr/>
          <p:nvPr/>
        </p:nvSpPr>
        <p:spPr>
          <a:xfrm>
            <a:off x="3362706" y="5102351"/>
            <a:ext cx="402336" cy="402336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2" name="Picture 17461" descr="rup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1219" y="5190865"/>
            <a:ext cx="225308" cy="225308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3838194" y="5102351"/>
            <a:ext cx="211912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7A3C"/>
                </a:solidFill>
                <a:latin typeface="Arial"/>
              </a:rPr>
              <a:t>Economic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3380994" y="5577840"/>
            <a:ext cx="255803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Fewer costly decisions on unreliable forecasts, fuller use of reliable ones; guidance drives crores of decisions weekly.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6140196" y="4974336"/>
            <a:ext cx="2795777" cy="128016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6249924" y="5102351"/>
            <a:ext cx="402336" cy="402336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7" name="Picture 17466" descr="lea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8437" y="5190865"/>
            <a:ext cx="225308" cy="225308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6725412" y="5102351"/>
            <a:ext cx="211912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7A83"/>
                </a:solidFill>
                <a:latin typeface="Arial"/>
              </a:rPr>
              <a:t>Environmental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6268212" y="5577840"/>
            <a:ext cx="255803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Better-timed irrigation and reservoir releases save water; trusted heavy-rain guidance cuts flood damage.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9027414" y="4974336"/>
            <a:ext cx="2795777" cy="128016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71" name="Oval 17470"/>
          <p:cNvSpPr/>
          <p:nvPr/>
        </p:nvSpPr>
        <p:spPr>
          <a:xfrm>
            <a:off x="9137142" y="5102351"/>
            <a:ext cx="402336" cy="402336"/>
          </a:xfrm>
          <a:prstGeom prst="ellipse">
            <a:avLst/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72" name="Picture 17471" descr="col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5655" y="5190865"/>
            <a:ext cx="225308" cy="225308"/>
          </a:xfrm>
          <a:prstGeom prst="rect">
            <a:avLst/>
          </a:prstGeom>
        </p:spPr>
      </p:pic>
      <p:sp>
        <p:nvSpPr>
          <p:cNvPr id="17473" name="TextBox 17472"/>
          <p:cNvSpPr txBox="1"/>
          <p:nvPr/>
        </p:nvSpPr>
        <p:spPr>
          <a:xfrm>
            <a:off x="9612630" y="5102351"/>
            <a:ext cx="211912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Arial"/>
              </a:rPr>
              <a:t>Institutional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9155430" y="5577840"/>
            <a:ext cx="255803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Every approved outcome builds a verified record of forecast skill by region, season and lead day.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822960"/>
          </a:xfrm>
        </p:spPr>
        <p:txBody>
          <a:bodyPr anchor="ctr"/>
          <a:lstStyle/>
          <a:p>
            <a:pPr eaLnBrk="1" hangingPunct="1" algn="ctr"/>
            <a:r>
              <a:rPr lang="en-US" sz="3200" b="1" dirty="0">
                <a:solidFill>
                  <a:srgbClr val="0C234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36576" rIns="36576" wrap="square"/>
          <a:lstStyle/>
          <a:p>
            <a:pPr algn="ctr"/>
            <a:r>
              <a:rPr lang="en-US" dirty="0" sz="1200" b="1">
                <a:solidFill>
                  <a:srgbClr val="0C2340"/>
                </a:solidFill>
              </a:rPr>
              <a:t>PowerPuff Squad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783080" y="950976"/>
            <a:ext cx="7818120" cy="384048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9525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1847088" y="950976"/>
            <a:ext cx="76901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4E9B"/>
                </a:solidFill>
                <a:latin typeface="Arial"/>
              </a:rPr>
              <a:t>Grounded:  </a:t>
            </a:r>
            <a:r>
              <a:rPr sz="1100" b="0" i="0">
                <a:solidFill>
                  <a:srgbClr val="0C2340"/>
                </a:solidFill>
                <a:latin typeface="Arial"/>
              </a:rPr>
              <a:t>built on NCMRWF and IMD data and peer-reviewed forecast-verification science.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481328"/>
            <a:ext cx="5637276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13" name="Rounded Rectangle 17412"/>
          <p:cNvSpPr/>
          <p:nvPr/>
        </p:nvSpPr>
        <p:spPr>
          <a:xfrm>
            <a:off x="365760" y="1481328"/>
            <a:ext cx="5637276" cy="384048"/>
          </a:xfrm>
          <a:prstGeom prst="roundRect">
            <a:avLst>
              <a:gd name="adj" fmla="val 23809"/>
            </a:avLst>
          </a:prstGeom>
          <a:solidFill>
            <a:srgbClr val="1A4E9B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14" name="Picture 17413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54480"/>
            <a:ext cx="237744" cy="237744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786384" y="1481328"/>
            <a:ext cx="51435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DATA SOURCES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493776" y="2029968"/>
            <a:ext cx="274320" cy="27432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77824" y="19385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NCMRWF Research Data Server: S2S reforecast 1993–2015. DOI 10.64349/nmrf.rds.s2s.50521 · rds.ncmrwf.gov.in/datasets/s2s-daily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493776" y="2487168"/>
            <a:ext cx="274320" cy="27432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77824" y="23957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TIGGE forecasts, origin NCMRWF (NEPS), ECMWF Data Store · ecds.ecmwf.int/datasets/tigge-forecasts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493776" y="2944368"/>
            <a:ext cx="274320" cy="27432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77824" y="28529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Pai, D. S. et al. (2014). A 0.25 × 0.25 degree daily gridded rainfall data set over India. Mausam, 65(1), 1–18.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493776" y="3401568"/>
            <a:ext cx="274320" cy="27432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3101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IMD meteorological subdivision boundaries · github.com/India-Meteorological-Department/Indian_met_zones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493776" y="3858768"/>
            <a:ext cx="274320" cy="27432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77824" y="37673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IMD SOP for forecasting &amp; warning: colour code; rainy day ≥ 2.5 mm, heavy rain ≥ 64.5 mm · mausam.imd.gov.in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493776" y="4315968"/>
            <a:ext cx="274320" cy="274320"/>
          </a:xfrm>
          <a:prstGeom prst="ellipse">
            <a:avLst/>
          </a:prstGeom>
          <a:solidFill>
            <a:srgbClr val="1A4E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77824" y="42245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NCMRWF operational NCUM-G and NEPS-G prediction systems · ncmrwf.gov.in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85916" y="1481328"/>
            <a:ext cx="5637276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6185916" y="1481328"/>
            <a:ext cx="5637276" cy="384048"/>
          </a:xfrm>
          <a:prstGeom prst="roundRect">
            <a:avLst>
              <a:gd name="adj" fmla="val 23809"/>
            </a:avLst>
          </a:prstGeom>
          <a:solidFill>
            <a:srgbClr val="167A83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430" name="Picture 17429" descr="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1554480"/>
            <a:ext cx="237744" cy="23774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606540" y="1481328"/>
            <a:ext cx="51435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6313932" y="2029968"/>
            <a:ext cx="274320" cy="27432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697980" y="19385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Rodwell, M. J. et al. (2013). Characteristics of occasional poor medium-range weather forecasts. BAMS, 94(9).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6313932" y="2487168"/>
            <a:ext cx="274320" cy="27432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697980" y="23957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Ke, G. et al. (2017). LightGBM: a highly efficient gradient boosting decision tree. NeurIPS 30.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6313932" y="2944368"/>
            <a:ext cx="274320" cy="27432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697980" y="28529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Lundberg, S. M. et al. (2020). From local explanations to global understanding with explainable AI for trees. Nature MI, 2.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6313932" y="3401568"/>
            <a:ext cx="274320" cy="27432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697980" y="33101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Zadrozny, B. &amp; Elkan, C. (2002). Transforming classifier scores into accurate probability estimates. KDD.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6313932" y="3858768"/>
            <a:ext cx="274320" cy="27432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697980" y="37673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Saito, T. &amp; Rehmsmeier, M. (2015). The precision-recall plot is more informative than ROC on imbalanced data. PLoS ONE, 10(3).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6313932" y="4315968"/>
            <a:ext cx="274320" cy="274320"/>
          </a:xfrm>
          <a:prstGeom prst="ellipse">
            <a:avLst/>
          </a:prstGeom>
          <a:solidFill>
            <a:srgbClr val="167A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697980" y="4224528"/>
            <a:ext cx="49971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1D2733"/>
                </a:solidFill>
                <a:latin typeface="Arial"/>
              </a:rPr>
              <a:t>Wilks, D. S. (2019). Statistical Methods in the Atmospheric Sciences, 4th ed. Elsevier.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65760" y="4818888"/>
            <a:ext cx="11457432" cy="1435608"/>
          </a:xfrm>
          <a:prstGeom prst="roundRect">
            <a:avLst>
              <a:gd name="adj" fmla="val 7643"/>
            </a:avLst>
          </a:prstGeom>
          <a:solidFill>
            <a:srgbClr val="0C23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548640" y="4910327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8220"/>
                </a:solidFill>
                <a:latin typeface="Arial"/>
              </a:rPr>
              <a:t>OUR RESEARCH RIGOUR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548640" y="5312664"/>
            <a:ext cx="146304" cy="146304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786384" y="5221224"/>
            <a:ext cx="3361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Year-based train / validation / test splits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4276343" y="5312664"/>
            <a:ext cx="146304" cy="146304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514087" y="5221224"/>
            <a:ext cx="3361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Thresholds fitted on training years only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8004047" y="5312664"/>
            <a:ext cx="146304" cy="146304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8241791" y="5221224"/>
            <a:ext cx="3361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Test years used exactly once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548640" y="5660136"/>
            <a:ext cx="146304" cy="146304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786384" y="5568696"/>
            <a:ext cx="3361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Block-bootstrap 95% confidence intervals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4276343" y="5660136"/>
            <a:ext cx="146304" cy="146304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4514087" y="5568696"/>
            <a:ext cx="3361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Automated leakage tests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8004047" y="5660136"/>
            <a:ext cx="146304" cy="146304"/>
          </a:xfrm>
          <a:prstGeom prst="ellipse">
            <a:avLst/>
          </a:prstGeom>
          <a:solidFill>
            <a:srgbClr val="1E7A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8241791" y="5568696"/>
            <a:ext cx="3361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Cross-checked on NOAA GEFS: +0.042 PR-AUC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548640" y="590702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58220"/>
                </a:solidFill>
                <a:latin typeface="Arial"/>
              </a:rPr>
              <a:t>Code &amp; handbook: </a:t>
            </a:r>
            <a:r>
              <a:rPr sz="950" b="0" i="0">
                <a:solidFill>
                  <a:srgbClr val="CFE0F5"/>
                </a:solidFill>
                <a:latin typeface="Arial"/>
              </a:rPr>
              <a:t>github.com/Tanish-Shitanshu/sih2026-forecast-bust-detection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